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850" cy="106965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779" y="403919"/>
            <a:ext cx="599628" cy="200025"/>
          </a:xfrm>
          <a:prstGeom prst="rect">
            <a:avLst/>
          </a:prstGeom>
          <a:noFill/>
        </p:spPr>
        <p:txBody>
          <a:bodyPr wrap="none" lIns="57150" rIns="57150" tIns="0" bIns="0" anchor="ctr">
            <a:spAutoFit/>
          </a:bodyPr>
          <a:lstStyle/>
          <a:p>
            <a:pPr algn="ctr"/>
            <a:r>
              <a:rPr sz="1299" b="1" i="0" spc="285">
                <a:solidFill>
                  <a:srgbClr val="E2BD72"/>
                </a:solidFill>
                <a:latin typeface="Montserrat"/>
              </a:rPr>
              <a:t>GRG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11478" y="391120"/>
            <a:ext cx="956220" cy="123825"/>
          </a:xfrm>
          <a:prstGeom prst="rect">
            <a:avLst/>
          </a:prstGeom>
          <a:noFill/>
        </p:spPr>
        <p:txBody>
          <a:bodyPr wrap="none" lIns="57150" rIns="57150" tIns="0" bIns="0" anchor="ctr">
            <a:spAutoFit/>
          </a:bodyPr>
          <a:lstStyle/>
          <a:p>
            <a:pPr algn="ctr"/>
            <a:r>
              <a:rPr sz="759" b="1" i="0" spc="380">
                <a:solidFill>
                  <a:srgbClr val="EFE3C4"/>
                </a:solidFill>
                <a:latin typeface="Montserrat"/>
              </a:rPr>
              <a:t>DHOLERA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14476" y="1503908"/>
            <a:ext cx="2217092" cy="581025"/>
          </a:xfrm>
          <a:prstGeom prst="rect">
            <a:avLst/>
          </a:prstGeom>
          <a:noFill/>
        </p:spPr>
        <p:txBody>
          <a:bodyPr wrap="none" lIns="57150" rIns="57150" tIns="0" bIns="0" anchor="ctr">
            <a:spAutoFit/>
          </a:bodyPr>
          <a:lstStyle/>
          <a:p>
            <a:pPr algn="ctr"/>
            <a:r>
              <a:rPr sz="3399" b="0" i="0" spc="680">
                <a:solidFill>
                  <a:srgbClr val="D6AC5E"/>
                </a:solidFill>
                <a:latin typeface="Cinzel"/>
              </a:rPr>
              <a:t>NILAYA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98159" y="2191494"/>
            <a:ext cx="1763553" cy="381000"/>
          </a:xfrm>
          <a:prstGeom prst="rect">
            <a:avLst/>
          </a:prstGeom>
          <a:noFill/>
        </p:spPr>
        <p:txBody>
          <a:bodyPr wrap="none" lIns="94476" rIns="94476" tIns="0" bIns="0" anchor="t">
            <a:spAutoFit/>
          </a:bodyPr>
          <a:lstStyle/>
          <a:p>
            <a:pPr algn="ctr">
              <a:lnSpc>
                <a:spcPts val="1500"/>
              </a:lnSpc>
            </a:pPr>
            <a:r>
              <a:rPr sz="1200" b="0" i="1">
                <a:solidFill>
                  <a:srgbClr val="EFE6D0"/>
                </a:solidFill>
                <a:latin typeface="Cormorant Garamond"/>
              </a:rPr>
              <a:t>Where the spirit of Nilachala</a:t>
            </a:r>
          </a:p>
          <a:p>
            <a:pPr algn="ctr">
              <a:lnSpc>
                <a:spcPts val="1500"/>
              </a:lnSpc>
            </a:pPr>
            <a:r>
              <a:rPr sz="1200" b="0" i="1">
                <a:solidFill>
                  <a:srgbClr val="EFE6D0"/>
                </a:solidFill>
                <a:latin typeface="Cormorant Garamond"/>
              </a:rPr>
              <a:t>meets the peace of home.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5366" y="2665958"/>
            <a:ext cx="2671762" cy="95250"/>
          </a:xfrm>
          <a:prstGeom prst="rect">
            <a:avLst/>
          </a:prstGeom>
          <a:noFill/>
        </p:spPr>
        <p:txBody>
          <a:bodyPr wrap="none" lIns="57150" rIns="57150" tIns="0" bIns="0" anchor="ctr">
            <a:spAutoFit/>
          </a:bodyPr>
          <a:lstStyle/>
          <a:p>
            <a:pPr algn="ctr"/>
            <a:r>
              <a:rPr sz="600" b="1" i="0" spc="179">
                <a:solidFill>
                  <a:srgbClr val="E2BD72"/>
                </a:solidFill>
                <a:latin typeface="Montserrat"/>
              </a:rPr>
              <a:t>PREMIUM PLOT INVESTMENT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2088" y="3906738"/>
            <a:ext cx="1015454" cy="104775"/>
          </a:xfrm>
          <a:prstGeom prst="rect">
            <a:avLst/>
          </a:prstGeom>
          <a:noFill/>
        </p:spPr>
        <p:txBody>
          <a:bodyPr wrap="none" lIns="57150" rIns="57150" tIns="0" bIns="0" anchor="ctr">
            <a:spAutoFit/>
          </a:bodyPr>
          <a:lstStyle/>
          <a:p>
            <a:pPr algn="ctr"/>
            <a:r>
              <a:rPr sz="660" b="1" i="0" spc="198">
                <a:solidFill>
                  <a:srgbClr val="E2BD72"/>
                </a:solidFill>
                <a:latin typeface="Montserrat"/>
              </a:rPr>
              <a:t>SOFT LAUNCH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4498" y="4046339"/>
            <a:ext cx="1030634" cy="352425"/>
          </a:xfrm>
          <a:prstGeom prst="rect">
            <a:avLst/>
          </a:prstGeom>
          <a:noFill/>
        </p:spPr>
        <p:txBody>
          <a:bodyPr wrap="none" lIns="57150" rIns="57150" tIns="0" bIns="0" anchor="ctr">
            <a:spAutoFit/>
          </a:bodyPr>
          <a:lstStyle/>
          <a:p>
            <a:pPr algn="ctr"/>
            <a:r>
              <a:rPr sz="2499" b="1" i="0">
                <a:solidFill>
                  <a:srgbClr val="F6DFA6"/>
                </a:solidFill>
                <a:latin typeface="serif"/>
              </a:rPr>
              <a:t>₹7,500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5542" y="4382839"/>
            <a:ext cx="508545" cy="161925"/>
          </a:xfrm>
          <a:prstGeom prst="rect">
            <a:avLst/>
          </a:prstGeom>
          <a:noFill/>
        </p:spPr>
        <p:txBody>
          <a:bodyPr wrap="none" lIns="57150" rIns="57150" tIns="0" bIns="0" anchor="ctr">
            <a:spAutoFit/>
          </a:bodyPr>
          <a:lstStyle/>
          <a:p>
            <a:pPr algn="ctr"/>
            <a:r>
              <a:rPr sz="1050" b="0" i="1">
                <a:solidFill>
                  <a:srgbClr val="CFC3A6"/>
                </a:solidFill>
                <a:latin typeface="Cormorant Garamond"/>
              </a:rPr>
              <a:t>/ Sq. Yd.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2589" y="4683769"/>
            <a:ext cx="1574601" cy="95250"/>
          </a:xfrm>
          <a:prstGeom prst="rect">
            <a:avLst/>
          </a:prstGeom>
          <a:noFill/>
        </p:spPr>
        <p:txBody>
          <a:bodyPr wrap="none" lIns="57150" rIns="5715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EDE3CC"/>
                </a:solidFill>
                <a:latin typeface="Montserrat"/>
              </a:rPr>
              <a:t>Effective </a:t>
            </a:r>
            <a:r>
              <a:rPr sz="650" b="1" i="0">
                <a:solidFill>
                  <a:srgbClr val="E2BD72"/>
                </a:solidFill>
                <a:latin typeface="Montserrat"/>
              </a:rPr>
              <a:t>₹8,500</a:t>
            </a:r>
            <a:r>
              <a:rPr sz="650" b="0" i="0">
                <a:solidFill>
                  <a:srgbClr val="EDE3CC"/>
                </a:solidFill>
                <a:latin typeface="Montserrat"/>
              </a:rPr>
              <a:t> incl. development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6067" y="3798837"/>
            <a:ext cx="947588" cy="104775"/>
          </a:xfrm>
          <a:prstGeom prst="rect">
            <a:avLst/>
          </a:prstGeom>
          <a:noFill/>
        </p:spPr>
        <p:txBody>
          <a:bodyPr wrap="none" lIns="57150" rIns="57150" tIns="0" bIns="0" anchor="ctr">
            <a:spAutoFit/>
          </a:bodyPr>
          <a:lstStyle/>
          <a:p>
            <a:pPr algn="ctr"/>
            <a:r>
              <a:rPr sz="660" b="1" i="0" spc="198">
                <a:solidFill>
                  <a:srgbClr val="1F4D38"/>
                </a:solidFill>
                <a:latin typeface="Montserrat"/>
              </a:rPr>
              <a:t>PRE-LAUNCH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4544" y="3938438"/>
            <a:ext cx="1030634" cy="352425"/>
          </a:xfrm>
          <a:prstGeom prst="rect">
            <a:avLst/>
          </a:prstGeom>
          <a:noFill/>
        </p:spPr>
        <p:txBody>
          <a:bodyPr wrap="none" lIns="57150" rIns="57150" tIns="0" bIns="0" anchor="ctr">
            <a:spAutoFit/>
          </a:bodyPr>
          <a:lstStyle/>
          <a:p>
            <a:pPr algn="ctr"/>
            <a:r>
              <a:rPr sz="2499" b="1" i="0">
                <a:solidFill>
                  <a:srgbClr val="0D2419"/>
                </a:solidFill>
                <a:latin typeface="serif"/>
              </a:rPr>
              <a:t>₹8,500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5589" y="4274939"/>
            <a:ext cx="508545" cy="161925"/>
          </a:xfrm>
          <a:prstGeom prst="rect">
            <a:avLst/>
          </a:prstGeom>
          <a:noFill/>
        </p:spPr>
        <p:txBody>
          <a:bodyPr wrap="none" lIns="57150" rIns="57150" tIns="0" bIns="0" anchor="ctr">
            <a:spAutoFit/>
          </a:bodyPr>
          <a:lstStyle/>
          <a:p>
            <a:pPr algn="ctr"/>
            <a:r>
              <a:rPr sz="1050" b="0" i="1">
                <a:solidFill>
                  <a:srgbClr val="6B766F"/>
                </a:solidFill>
                <a:latin typeface="Cormorant Garamond"/>
              </a:rPr>
              <a:t>/ Sq. Yd.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4273" y="4575869"/>
            <a:ext cx="1571178" cy="95250"/>
          </a:xfrm>
          <a:prstGeom prst="rect">
            <a:avLst/>
          </a:prstGeom>
          <a:noFill/>
        </p:spPr>
        <p:txBody>
          <a:bodyPr wrap="none" lIns="57150" rIns="5715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14261D"/>
                </a:solidFill>
                <a:latin typeface="Montserrat"/>
              </a:rPr>
              <a:t>Effective </a:t>
            </a:r>
            <a:r>
              <a:rPr sz="650" b="1" i="0">
                <a:solidFill>
                  <a:srgbClr val="B8893A"/>
                </a:solidFill>
                <a:latin typeface="Montserrat"/>
              </a:rPr>
              <a:t>₹9,500</a:t>
            </a:r>
            <a:r>
              <a:rPr sz="650" b="0" i="0">
                <a:solidFill>
                  <a:srgbClr val="14261D"/>
                </a:solidFill>
                <a:latin typeface="Montserrat"/>
              </a:rPr>
              <a:t> incl. development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40300" y="3690788"/>
            <a:ext cx="639067" cy="104775"/>
          </a:xfrm>
          <a:prstGeom prst="rect">
            <a:avLst/>
          </a:prstGeom>
          <a:noFill/>
        </p:spPr>
        <p:txBody>
          <a:bodyPr wrap="none" lIns="57150" rIns="57150" tIns="0" bIns="0" anchor="ctr">
            <a:spAutoFit/>
          </a:bodyPr>
          <a:lstStyle/>
          <a:p>
            <a:pPr algn="ctr"/>
            <a:r>
              <a:rPr sz="660" b="1" i="0" spc="198">
                <a:solidFill>
                  <a:srgbClr val="1F4D38"/>
                </a:solidFill>
                <a:latin typeface="Montserrat"/>
              </a:rPr>
              <a:t>LAUNCH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44591" y="3830389"/>
            <a:ext cx="1030634" cy="352425"/>
          </a:xfrm>
          <a:prstGeom prst="rect">
            <a:avLst/>
          </a:prstGeom>
          <a:noFill/>
        </p:spPr>
        <p:txBody>
          <a:bodyPr wrap="none" lIns="57150" rIns="57150" tIns="0" bIns="0" anchor="ctr">
            <a:spAutoFit/>
          </a:bodyPr>
          <a:lstStyle/>
          <a:p>
            <a:pPr algn="ctr"/>
            <a:r>
              <a:rPr sz="2499" b="1" i="0">
                <a:solidFill>
                  <a:srgbClr val="0D2419"/>
                </a:solidFill>
                <a:latin typeface="serif"/>
              </a:rPr>
              <a:t>₹9,500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5636" y="4166889"/>
            <a:ext cx="508545" cy="161925"/>
          </a:xfrm>
          <a:prstGeom prst="rect">
            <a:avLst/>
          </a:prstGeom>
          <a:noFill/>
        </p:spPr>
        <p:txBody>
          <a:bodyPr wrap="none" lIns="57150" rIns="57150" tIns="0" bIns="0" anchor="ctr">
            <a:spAutoFit/>
          </a:bodyPr>
          <a:lstStyle/>
          <a:p>
            <a:pPr algn="ctr"/>
            <a:r>
              <a:rPr sz="1050" b="0" i="1">
                <a:solidFill>
                  <a:srgbClr val="6B766F"/>
                </a:solidFill>
                <a:latin typeface="Cormorant Garamond"/>
              </a:rPr>
              <a:t>/ Sq. Yd.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6014" y="4467820"/>
            <a:ext cx="1607790" cy="95250"/>
          </a:xfrm>
          <a:prstGeom prst="rect">
            <a:avLst/>
          </a:prstGeom>
          <a:noFill/>
        </p:spPr>
        <p:txBody>
          <a:bodyPr wrap="none" lIns="57150" rIns="5715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14261D"/>
                </a:solidFill>
                <a:latin typeface="Montserrat"/>
              </a:rPr>
              <a:t>Effective </a:t>
            </a:r>
            <a:r>
              <a:rPr sz="650" b="1" i="0">
                <a:solidFill>
                  <a:srgbClr val="B8893A"/>
                </a:solidFill>
                <a:latin typeface="Montserrat"/>
              </a:rPr>
              <a:t>₹10,500</a:t>
            </a:r>
            <a:r>
              <a:rPr sz="650" b="0" i="0">
                <a:solidFill>
                  <a:srgbClr val="14261D"/>
                </a:solidFill>
                <a:latin typeface="Montserrat"/>
              </a:rPr>
              <a:t> incl. development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599" y="5079057"/>
            <a:ext cx="2864048" cy="209550"/>
          </a:xfrm>
          <a:prstGeom prst="rect">
            <a:avLst/>
          </a:prstGeom>
          <a:noFill/>
        </p:spPr>
        <p:txBody>
          <a:bodyPr wrap="none" lIns="57150" rIns="57150" tIns="0" bIns="0" anchor="ctr">
            <a:spAutoFit/>
          </a:bodyPr>
          <a:lstStyle/>
          <a:p>
            <a:pPr algn="ctr"/>
            <a:r>
              <a:rPr sz="1250" b="1" i="0" spc="75">
                <a:solidFill>
                  <a:srgbClr val="163A2A"/>
                </a:solidFill>
                <a:latin typeface="Cinzel"/>
              </a:rPr>
              <a:t>Transparent Cost 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2174" y="5477619"/>
            <a:ext cx="849510" cy="95250"/>
          </a:xfrm>
          <a:prstGeom prst="rect">
            <a:avLst/>
          </a:prstGeom>
          <a:noFill/>
        </p:spPr>
        <p:txBody>
          <a:bodyPr wrap="none" lIns="57150" rIns="57150" tIns="0" bIns="0" anchor="ctr">
            <a:spAutoFit/>
          </a:bodyPr>
          <a:lstStyle/>
          <a:p>
            <a:pPr algn="ctr"/>
            <a:r>
              <a:rPr sz="639" b="1" i="0" spc="153">
                <a:solidFill>
                  <a:srgbClr val="FFFFFF"/>
                </a:solidFill>
                <a:latin typeface="Montserrat"/>
              </a:rPr>
              <a:t>PARTICULAR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9941" y="5477619"/>
            <a:ext cx="933450" cy="95250"/>
          </a:xfrm>
          <a:prstGeom prst="rect">
            <a:avLst/>
          </a:prstGeom>
          <a:noFill/>
        </p:spPr>
        <p:txBody>
          <a:bodyPr wrap="none" lIns="57150" rIns="57150" tIns="0" bIns="0" anchor="ctr">
            <a:spAutoFit/>
          </a:bodyPr>
          <a:lstStyle/>
          <a:p>
            <a:pPr algn="ctr"/>
            <a:r>
              <a:rPr sz="639" b="1" i="0" spc="153">
                <a:solidFill>
                  <a:srgbClr val="FFFFFF"/>
                </a:solidFill>
                <a:latin typeface="Montserrat"/>
              </a:rPr>
              <a:t>SOFT LAUNCH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1015" y="5477619"/>
            <a:ext cx="872579" cy="95250"/>
          </a:xfrm>
          <a:prstGeom prst="rect">
            <a:avLst/>
          </a:prstGeom>
          <a:noFill/>
        </p:spPr>
        <p:txBody>
          <a:bodyPr wrap="none" lIns="57150" rIns="57150" tIns="0" bIns="0" anchor="ctr">
            <a:spAutoFit/>
          </a:bodyPr>
          <a:lstStyle/>
          <a:p>
            <a:pPr algn="ctr"/>
            <a:r>
              <a:rPr sz="639" b="1" i="0" spc="153">
                <a:solidFill>
                  <a:srgbClr val="FFFFFF"/>
                </a:solidFill>
                <a:latin typeface="Montserrat"/>
              </a:rPr>
              <a:t>PRE-LAUNCH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11478" y="5477619"/>
            <a:ext cx="593228" cy="95250"/>
          </a:xfrm>
          <a:prstGeom prst="rect">
            <a:avLst/>
          </a:prstGeom>
          <a:noFill/>
        </p:spPr>
        <p:txBody>
          <a:bodyPr wrap="none" lIns="57150" rIns="57150" tIns="0" bIns="0" anchor="ctr">
            <a:spAutoFit/>
          </a:bodyPr>
          <a:lstStyle/>
          <a:p>
            <a:pPr algn="ctr"/>
            <a:r>
              <a:rPr sz="639" b="1" i="0" spc="153">
                <a:solidFill>
                  <a:srgbClr val="FFFFFF"/>
                </a:solidFill>
                <a:latin typeface="Montserrat"/>
              </a:rPr>
              <a:t>LAUNCH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143" y="5740300"/>
            <a:ext cx="1051768" cy="133350"/>
          </a:xfrm>
          <a:prstGeom prst="rect">
            <a:avLst/>
          </a:prstGeom>
          <a:noFill/>
        </p:spPr>
        <p:txBody>
          <a:bodyPr wrap="none" lIns="57150" rIns="57150" tIns="0" bIns="0" anchor="ctr">
            <a:spAutoFit/>
          </a:bodyPr>
          <a:lstStyle/>
          <a:p>
            <a:pPr algn="ctr"/>
            <a:r>
              <a:rPr sz="819" b="1" i="0">
                <a:solidFill>
                  <a:srgbClr val="14261D"/>
                </a:solidFill>
                <a:latin typeface="Montserrat"/>
              </a:rPr>
              <a:t>Plot Rate / Sq. Yd.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89548" y="5730924"/>
            <a:ext cx="554235" cy="161925"/>
          </a:xfrm>
          <a:prstGeom prst="rect">
            <a:avLst/>
          </a:prstGeom>
          <a:noFill/>
        </p:spPr>
        <p:txBody>
          <a:bodyPr wrap="none" lIns="57150" rIns="5715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7B5A1E"/>
                </a:solidFill>
                <a:latin typeface="serif"/>
              </a:rPr>
              <a:t>₹7,500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10261" y="5730924"/>
            <a:ext cx="554235" cy="161925"/>
          </a:xfrm>
          <a:prstGeom prst="rect">
            <a:avLst/>
          </a:prstGeom>
          <a:noFill/>
        </p:spPr>
        <p:txBody>
          <a:bodyPr wrap="none" lIns="57150" rIns="5715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4261D"/>
                </a:solidFill>
                <a:latin typeface="serif"/>
              </a:rPr>
              <a:t>₹8,500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30974" y="5730924"/>
            <a:ext cx="554235" cy="161925"/>
          </a:xfrm>
          <a:prstGeom prst="rect">
            <a:avLst/>
          </a:prstGeom>
          <a:noFill/>
        </p:spPr>
        <p:txBody>
          <a:bodyPr wrap="none" lIns="57150" rIns="5715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4261D"/>
                </a:solidFill>
                <a:latin typeface="serif"/>
              </a:rPr>
              <a:t>₹9,500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143" y="6055518"/>
            <a:ext cx="1291828" cy="133350"/>
          </a:xfrm>
          <a:prstGeom prst="rect">
            <a:avLst/>
          </a:prstGeom>
          <a:noFill/>
        </p:spPr>
        <p:txBody>
          <a:bodyPr wrap="none" lIns="57150" rIns="57150" tIns="0" bIns="0" anchor="ctr">
            <a:spAutoFit/>
          </a:bodyPr>
          <a:lstStyle/>
          <a:p>
            <a:pPr algn="ctr"/>
            <a:r>
              <a:rPr sz="819" b="1" i="0">
                <a:solidFill>
                  <a:srgbClr val="14261D"/>
                </a:solidFill>
                <a:latin typeface="Montserrat"/>
              </a:rPr>
              <a:t>Development / Sq. Yd.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89548" y="6046142"/>
            <a:ext cx="554235" cy="161925"/>
          </a:xfrm>
          <a:prstGeom prst="rect">
            <a:avLst/>
          </a:prstGeom>
          <a:noFill/>
        </p:spPr>
        <p:txBody>
          <a:bodyPr wrap="none" lIns="57150" rIns="5715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7B5A1E"/>
                </a:solidFill>
                <a:latin typeface="serif"/>
              </a:rPr>
              <a:t>₹1,000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10261" y="6046142"/>
            <a:ext cx="554235" cy="161925"/>
          </a:xfrm>
          <a:prstGeom prst="rect">
            <a:avLst/>
          </a:prstGeom>
          <a:noFill/>
        </p:spPr>
        <p:txBody>
          <a:bodyPr wrap="none" lIns="57150" rIns="5715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4261D"/>
                </a:solidFill>
                <a:latin typeface="serif"/>
              </a:rPr>
              <a:t>₹1,000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30974" y="6046142"/>
            <a:ext cx="554235" cy="161925"/>
          </a:xfrm>
          <a:prstGeom prst="rect">
            <a:avLst/>
          </a:prstGeom>
          <a:noFill/>
        </p:spPr>
        <p:txBody>
          <a:bodyPr wrap="none" lIns="57150" rIns="5715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4261D"/>
                </a:solidFill>
                <a:latin typeface="serif"/>
              </a:rPr>
              <a:t>₹1,000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9143" y="6380261"/>
            <a:ext cx="1934021" cy="133350"/>
          </a:xfrm>
          <a:prstGeom prst="rect">
            <a:avLst/>
          </a:prstGeom>
          <a:noFill/>
        </p:spPr>
        <p:txBody>
          <a:bodyPr wrap="none" lIns="57150" rIns="57150" tIns="0" bIns="0" anchor="ctr">
            <a:spAutoFit/>
          </a:bodyPr>
          <a:lstStyle/>
          <a:p>
            <a:pPr algn="ctr"/>
            <a:r>
              <a:rPr sz="819" b="1" i="0">
                <a:solidFill>
                  <a:srgbClr val="0D2419"/>
                </a:solidFill>
                <a:latin typeface="Montserrat"/>
              </a:rPr>
              <a:t>Effective Rate incl. Development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53085" y="6342310"/>
            <a:ext cx="627310" cy="200025"/>
          </a:xfrm>
          <a:prstGeom prst="rect">
            <a:avLst/>
          </a:prstGeom>
          <a:noFill/>
        </p:spPr>
        <p:txBody>
          <a:bodyPr wrap="none" lIns="57150" rIns="5715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8C6214"/>
                </a:solidFill>
                <a:latin typeface="serif"/>
              </a:rPr>
              <a:t>₹8,500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73649" y="6342310"/>
            <a:ext cx="627310" cy="200025"/>
          </a:xfrm>
          <a:prstGeom prst="rect">
            <a:avLst/>
          </a:prstGeom>
          <a:noFill/>
        </p:spPr>
        <p:txBody>
          <a:bodyPr wrap="none" lIns="57150" rIns="5715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D2419"/>
                </a:solidFill>
                <a:latin typeface="serif"/>
              </a:rPr>
              <a:t>₹9,500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50012" y="6342310"/>
            <a:ext cx="716160" cy="200025"/>
          </a:xfrm>
          <a:prstGeom prst="rect">
            <a:avLst/>
          </a:prstGeom>
          <a:noFill/>
        </p:spPr>
        <p:txBody>
          <a:bodyPr wrap="none" lIns="57150" rIns="5715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D2419"/>
                </a:solidFill>
                <a:latin typeface="serif"/>
              </a:rPr>
              <a:t>₹10,500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8599" y="6838057"/>
            <a:ext cx="2246262" cy="209550"/>
          </a:xfrm>
          <a:prstGeom prst="rect">
            <a:avLst/>
          </a:prstGeom>
          <a:noFill/>
        </p:spPr>
        <p:txBody>
          <a:bodyPr wrap="none" lIns="57150" rIns="57150" tIns="0" bIns="0" anchor="ctr">
            <a:spAutoFit/>
          </a:bodyPr>
          <a:lstStyle/>
          <a:p>
            <a:pPr algn="ctr"/>
            <a:r>
              <a:rPr sz="1250" b="1" i="0" spc="75">
                <a:solidFill>
                  <a:srgbClr val="163A2A"/>
                </a:solidFill>
                <a:latin typeface="Cinzel"/>
              </a:rPr>
              <a:t>Premium Location PLC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754" y="7801570"/>
            <a:ext cx="752177" cy="133350"/>
          </a:xfrm>
          <a:prstGeom prst="rect">
            <a:avLst/>
          </a:prstGeom>
          <a:noFill/>
        </p:spPr>
        <p:txBody>
          <a:bodyPr wrap="none" lIns="57150" rIns="57150" tIns="0" bIns="0" anchor="ctr">
            <a:spAutoFit/>
          </a:bodyPr>
          <a:lstStyle/>
          <a:p>
            <a:pPr algn="ctr"/>
            <a:r>
              <a:rPr sz="860" b="1" i="0">
                <a:solidFill>
                  <a:srgbClr val="0D2419"/>
                </a:solidFill>
                <a:latin typeface="Montserrat"/>
              </a:rPr>
              <a:t>Corner Plot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2461" y="8006804"/>
            <a:ext cx="766911" cy="285750"/>
          </a:xfrm>
          <a:prstGeom prst="rect">
            <a:avLst/>
          </a:prstGeom>
          <a:noFill/>
        </p:spPr>
        <p:txBody>
          <a:bodyPr wrap="none" lIns="57150" rIns="5715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B8893A"/>
                </a:solidFill>
                <a:latin typeface="serif"/>
              </a:rPr>
              <a:t>+10%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69108" y="7801570"/>
            <a:ext cx="1821358" cy="133350"/>
          </a:xfrm>
          <a:prstGeom prst="rect">
            <a:avLst/>
          </a:prstGeom>
          <a:noFill/>
        </p:spPr>
        <p:txBody>
          <a:bodyPr wrap="none" lIns="57150" rIns="57150" tIns="0" bIns="0" anchor="ctr">
            <a:spAutoFit/>
          </a:bodyPr>
          <a:lstStyle/>
          <a:p>
            <a:pPr algn="ctr"/>
            <a:r>
              <a:rPr sz="860" b="1" i="0">
                <a:solidFill>
                  <a:srgbClr val="0D2419"/>
                </a:solidFill>
                <a:latin typeface="Montserrat"/>
              </a:rPr>
              <a:t>Garden Facing / Garden Touch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96406" y="8006804"/>
            <a:ext cx="766911" cy="285750"/>
          </a:xfrm>
          <a:prstGeom prst="rect">
            <a:avLst/>
          </a:prstGeom>
          <a:noFill/>
        </p:spPr>
        <p:txBody>
          <a:bodyPr wrap="none" lIns="57150" rIns="5715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B8893A"/>
                </a:solidFill>
                <a:latin typeface="serif"/>
              </a:rPr>
              <a:t>+10%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5060" y="7801570"/>
            <a:ext cx="1137493" cy="133350"/>
          </a:xfrm>
          <a:prstGeom prst="rect">
            <a:avLst/>
          </a:prstGeom>
          <a:noFill/>
        </p:spPr>
        <p:txBody>
          <a:bodyPr wrap="none" lIns="57150" rIns="57150" tIns="0" bIns="0" anchor="ctr">
            <a:spAutoFit/>
          </a:bodyPr>
          <a:lstStyle/>
          <a:p>
            <a:pPr algn="ctr"/>
            <a:r>
              <a:rPr sz="860" b="1" i="0">
                <a:solidFill>
                  <a:srgbClr val="0D2419"/>
                </a:solidFill>
                <a:latin typeface="Montserrat"/>
              </a:rPr>
              <a:t>40 Ft Road Facing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70351" y="8006804"/>
            <a:ext cx="766911" cy="285750"/>
          </a:xfrm>
          <a:prstGeom prst="rect">
            <a:avLst/>
          </a:prstGeom>
          <a:noFill/>
        </p:spPr>
        <p:txBody>
          <a:bodyPr wrap="none" lIns="57150" rIns="5715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B8893A"/>
                </a:solidFill>
                <a:latin typeface="serif"/>
              </a:rPr>
              <a:t>+10%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20254" y="8832205"/>
            <a:ext cx="2070794" cy="123825"/>
          </a:xfrm>
          <a:prstGeom prst="rect">
            <a:avLst/>
          </a:prstGeom>
          <a:noFill/>
        </p:spPr>
        <p:txBody>
          <a:bodyPr wrap="none" lIns="57150" rIns="57150" tIns="0" bIns="0" anchor="ctr">
            <a:spAutoFit/>
          </a:bodyPr>
          <a:lstStyle/>
          <a:p>
            <a:pPr algn="ctr"/>
            <a:r>
              <a:rPr sz="759" b="1" i="0" spc="228">
                <a:solidFill>
                  <a:srgbClr val="E2BD72"/>
                </a:solidFill>
                <a:latin typeface="Montserrat"/>
              </a:rPr>
              <a:t>EARLY-ENTRY ADVANTAGE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8178" y="8991897"/>
            <a:ext cx="5772221" cy="384125"/>
          </a:xfrm>
          <a:prstGeom prst="rect">
            <a:avLst/>
          </a:prstGeom>
          <a:noFill/>
        </p:spPr>
        <p:txBody>
          <a:bodyPr wrap="square" lIns="309226" rIns="309226" tIns="0" bIns="0" anchor="t">
            <a:spAutoFit/>
          </a:bodyPr>
          <a:lstStyle/>
          <a:p>
            <a:pPr algn="l">
              <a:lnSpc>
                <a:spcPts val="1524"/>
              </a:lnSpc>
            </a:pPr>
            <a:r>
              <a:rPr sz="1250" b="0" i="1">
                <a:solidFill>
                  <a:srgbClr val="F2E9D4"/>
                </a:solidFill>
                <a:latin typeface="Cormorant Garamond"/>
              </a:rPr>
              <a:t>Secure your preferred plot at the soft-launch rate before the project moves to pre-launch and launch pricing.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780" y="9628584"/>
            <a:ext cx="7114222" cy="342900"/>
          </a:xfrm>
          <a:prstGeom prst="rect">
            <a:avLst/>
          </a:prstGeom>
          <a:noFill/>
        </p:spPr>
        <p:txBody>
          <a:bodyPr wrap="square" lIns="381119" rIns="381119" tIns="0" bIns="0" anchor="t">
            <a:spAutoFit/>
          </a:bodyPr>
          <a:lstStyle/>
          <a:p>
            <a:pPr algn="l">
              <a:lnSpc>
                <a:spcPts val="975"/>
              </a:lnSpc>
            </a:pPr>
            <a:r>
              <a:rPr sz="650" b="1" i="0">
                <a:solidFill>
                  <a:srgbClr val="14261D"/>
                </a:solidFill>
                <a:latin typeface="Montserrat"/>
              </a:rPr>
              <a:t>Note:</a:t>
            </a:r>
            <a:r>
              <a:rPr sz="650" b="0" i="0">
                <a:solidFill>
                  <a:srgbClr val="6B766F"/>
                </a:solidFill>
                <a:latin typeface="Montserrat"/>
              </a:rPr>
              <a:t> Development charges are ₹1,000 per sq. yd. PLC is applicable as per plot attributes. Where more than one qualifying PLC applies, the final payable amount should be confirmed as per the project's allotment/pricing policy. Taxes, registration, stamp duty and other statutory charges, if applicable, are additional.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2966" y="10409187"/>
            <a:ext cx="468808" cy="142875"/>
          </a:xfrm>
          <a:prstGeom prst="rect">
            <a:avLst/>
          </a:prstGeom>
          <a:noFill/>
        </p:spPr>
        <p:txBody>
          <a:bodyPr wrap="none" lIns="57150" rIns="57150" tIns="0" bIns="0" anchor="ctr">
            <a:spAutoFit/>
          </a:bodyPr>
          <a:lstStyle/>
          <a:p>
            <a:pPr algn="ctr"/>
            <a:r>
              <a:rPr sz="950" b="1" i="0" spc="209">
                <a:solidFill>
                  <a:srgbClr val="E2BD72"/>
                </a:solidFill>
                <a:latin typeface="Montserrat"/>
              </a:rPr>
              <a:t>GRG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11363" y="10399811"/>
            <a:ext cx="907107" cy="161925"/>
          </a:xfrm>
          <a:prstGeom prst="rect">
            <a:avLst/>
          </a:prstGeom>
          <a:noFill/>
        </p:spPr>
        <p:txBody>
          <a:bodyPr wrap="none" lIns="57150" rIns="57150" tIns="0" bIns="0" anchor="ctr">
            <a:spAutoFit/>
          </a:bodyPr>
          <a:lstStyle/>
          <a:p>
            <a:pPr algn="ctr"/>
            <a:r>
              <a:rPr sz="1050" b="0" i="1">
                <a:solidFill>
                  <a:srgbClr val="E9DFC6"/>
                </a:solidFill>
                <a:latin typeface="Cormorant Garamond"/>
              </a:rPr>
              <a:t>Nilaya · Dholera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28059" y="10428386"/>
            <a:ext cx="1756916" cy="104775"/>
          </a:xfrm>
          <a:prstGeom prst="rect">
            <a:avLst/>
          </a:prstGeom>
          <a:noFill/>
        </p:spPr>
        <p:txBody>
          <a:bodyPr wrap="none" lIns="57150" rIns="57150" tIns="0" bIns="0" anchor="ctr">
            <a:spAutoFit/>
          </a:bodyPr>
          <a:lstStyle/>
          <a:p>
            <a:pPr algn="ctr"/>
            <a:r>
              <a:rPr sz="680" b="0" i="0" spc="204">
                <a:solidFill>
                  <a:srgbClr val="CFC3A6"/>
                </a:solidFill>
                <a:latin typeface="Montserrat"/>
              </a:rPr>
              <a:t>GARGREALTYGROUP.COM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